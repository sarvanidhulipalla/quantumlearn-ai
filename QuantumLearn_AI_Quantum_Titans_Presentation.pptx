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082735" y="4572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82735" y="457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TITANS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103628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“Learn. Build. Run. Understand.”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6583680" cy="3794760"/>
          </a:xfrm>
          <a:prstGeom prst="roundRect">
            <a:avLst>
              <a:gd name="adj" fmla="val 2892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31720"/>
            <a:ext cx="6583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SPECIFICATION &amp; METADATA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 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1927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Quantum Algorithm Learning 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75818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Theme 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STEM Education &amp; Quantum Software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19709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Category 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&amp; Scientific Simulation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63600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Simulator 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IBM Qiskit Aer (1,024 Shots Local Monte Carlo)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 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Socratic AI Tutor (RAG + Gemini 1.5 Flash)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551383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TITANS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2331720"/>
            <a:ext cx="3870655" cy="3794760"/>
          </a:xfrm>
          <a:prstGeom prst="roundRect">
            <a:avLst>
              <a:gd name="adj" fmla="val 2892"/>
            </a:avLst>
          </a:prstGeom>
          <a:solidFill>
            <a:srgbClr val="F0FDFA"/>
          </a:solidFill>
          <a:ln w="15240">
            <a:solidFill>
              <a:srgbClr val="99F6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2331720"/>
            <a:ext cx="3870655" cy="411480"/>
          </a:xfrm>
          <a:prstGeom prst="rect">
            <a:avLst/>
          </a:prstGeom>
          <a:solidFill>
            <a:srgbClr val="E6FF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LEARNING CYCLE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2852928"/>
            <a:ext cx="350489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8529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LEARN  →  Grasp foundational quantum concepts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0" y="3236976"/>
            <a:ext cx="3504895" cy="329184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323697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PREDICT  →  Hypothesize output states before run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0" y="3621024"/>
            <a:ext cx="350489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36210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BUILD  →  Drag-and-drop gates (H, X, CX, M)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0" y="4005072"/>
            <a:ext cx="3504895" cy="329184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40050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SIMULATE  →  Execute live Qiskit Aer (1024 shots)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0" y="4389120"/>
            <a:ext cx="350489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4389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COMPARE  →  Evaluate theory vs actual counts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72400" y="4773168"/>
            <a:ext cx="3504895" cy="329184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47731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EXPLAIN  →  Grounded AI Tutor resolves doubts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72400" y="5157216"/>
            <a:ext cx="350489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515721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PRACTICE  →  Solve fidelity assessment quizzes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0" y="5541264"/>
            <a:ext cx="3504895" cy="329184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554126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UNLOCK  →  Earn mastery &amp; unlock next lesson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6446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@QuantumLearn AI — Team Quantum Titans  |  Learn. Build. Run. Understand.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670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 AI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31375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1375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TITANS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256032"/>
            <a:ext cx="6888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603504"/>
            <a:ext cx="688817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(Learn. Build. Run. Understand. — Interactive Quantum Learning Platform)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46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@QuantumLearn AI — Team Quantum Titans  |  Learn. Build. Run. Understand.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70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051560"/>
            <a:ext cx="6217920" cy="1600200"/>
          </a:xfrm>
          <a:prstGeom prst="roundRect">
            <a:avLst>
              <a:gd name="adj" fmla="val 457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051560"/>
            <a:ext cx="6217920" cy="320040"/>
          </a:xfrm>
          <a:prstGeom prst="rect">
            <a:avLst/>
          </a:prstGeom>
          <a:solidFill>
            <a:srgbClr val="FFE4E6"/>
          </a:solidFill>
          <a:ln w="10160">
            <a:solidFill>
              <a:srgbClr val="FECD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0515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EXISTING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41732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Invisible States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and entanglement are difficult to grasp from static equations.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1746504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Unintuitive Circuit Outcomes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predict how gate transformations affect multi-qubit states.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07568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Intimidating Toolchains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CLI SDKs require complex environments, alienating beginner students.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761488"/>
            <a:ext cx="6217920" cy="1783080"/>
          </a:xfrm>
          <a:prstGeom prst="roundRect">
            <a:avLst>
              <a:gd name="adj" fmla="val 410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61488"/>
            <a:ext cx="6217920" cy="320040"/>
          </a:xfrm>
          <a:prstGeom prst="rect">
            <a:avLst/>
          </a:prstGeom>
          <a:solidFill>
            <a:srgbClr val="CCFBF1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76148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312724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Zero-Install Interactive Web UI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Tailwind visual circuit canvas accessible in any browser.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45643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Predict-Before-Simulate Engine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students to hypothesize states before executing, building real intuition.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78561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IBM Qiskit Aer Engine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1,024 shots locally with exact measurement counts and statevectors.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Socratic AI Tutor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explanations clarifying exactly why simulation results occurred.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636008"/>
            <a:ext cx="6217920" cy="1664208"/>
          </a:xfrm>
          <a:prstGeom prst="roundRect">
            <a:avLst>
              <a:gd name="adj" fmla="val 439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636008"/>
            <a:ext cx="6217920" cy="320040"/>
          </a:xfrm>
          <a:prstGeom prst="rect">
            <a:avLst/>
          </a:prstGeom>
          <a:solidFill>
            <a:srgbClr val="D1FAE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6360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UVP (UNIQUE VALUE PROPOSITION)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00176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Active Pedagogy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→ Predict → Build → Simulate → Compare → Explain → Practice.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533095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Quantum Physics (No Fake Math)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Monte Carlo shot noise sampling via IBM Qiskit Aer.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566013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with Zero Hallucinations 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retrieval referencing verified quantum textbook modules.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49440" y="1051560"/>
            <a:ext cx="4693615" cy="5248656"/>
          </a:xfrm>
          <a:prstGeom prst="roundRect">
            <a:avLst>
              <a:gd name="adj" fmla="val 19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1051560"/>
            <a:ext cx="4693615" cy="34747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051560"/>
            <a:ext cx="4327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1536192"/>
            <a:ext cx="4236415" cy="658368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9480" y="164592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7269480" y="1645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66760" y="160934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Learner Interface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69480" y="18836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Vite, Tailwind CSS, SVG/Canvas Visualizers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98280" y="21579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78040" y="2340864"/>
            <a:ext cx="4236415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69480" y="245059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7269480" y="24505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66760" y="241401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Application Gateway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69480" y="268833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Schemas, JWT Security, REST Endpoints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098280" y="296265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78040" y="3145536"/>
            <a:ext cx="4236415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325526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7269480" y="32552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366760" y="321868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Aer Quantum Simulator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269480" y="349300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Python Qiskit Aer: 1,024 Shots Monte Carlo &amp; Statevectors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098280" y="37673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040" y="3950208"/>
            <a:ext cx="4236415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69480" y="40599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7269480" y="4059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366760" y="402336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Tutor &amp; RAG Engine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269480" y="42976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Prompting, Vector Similarity Retrieval, Gemini 1.5 Flash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098280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040" y="4754880"/>
            <a:ext cx="4236415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69480" y="486460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</p:sp>
      <p:sp>
        <p:nvSpPr>
          <p:cNvPr id="60" name="Text 58"/>
          <p:cNvSpPr/>
          <p:nvPr/>
        </p:nvSpPr>
        <p:spPr>
          <a:xfrm>
            <a:off x="726948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366760" y="482803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&amp; Mastery Store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269480" y="51023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ORM, SQLite / PostgreSQL, 9-Domain Mastery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040" y="5715000"/>
            <a:ext cx="4236415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23760" y="5715000"/>
            <a:ext cx="41449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Tech: React 19  •  FastAPI  •  IBM Qiskit Aer  •  Gemini  •  SQLite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 AI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31375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1375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TITANS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256032"/>
            <a:ext cx="6888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603504"/>
            <a:ext cx="688817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Three-Track Workflow &amp; Integrated Technical Stack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46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@QuantumLearn AI — Team Quantum Titans  |  Learn. Build. Run. Understand.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70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1024128"/>
            <a:ext cx="4876495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024128"/>
            <a:ext cx="48764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HERE: Select Learning Objective / Circuit Challenge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155448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554480"/>
            <a:ext cx="3520440" cy="329184"/>
          </a:xfrm>
          <a:prstGeom prst="rect">
            <a:avLst/>
          </a:prstGeom>
          <a:solidFill>
            <a:srgbClr val="FEF3C7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55448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CONCEPT &amp; PREDICT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1965960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19659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Lesson (Qubit, H, Measure, Bell)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" y="2368296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36829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Study Theory &amp; Socratic Concepts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" y="2770632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7706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Formulate Output State Hypothesis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" y="3172968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1729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Input Expected Probabilities (% 00 / 11)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" y="3575304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57530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Lock Prediction into Learning Session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3232" y="3977640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9776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Unlock Circuit Builder Canvas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34256" y="155448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34256" y="1554480"/>
            <a:ext cx="3520440" cy="329184"/>
          </a:xfrm>
          <a:prstGeom prst="rect">
            <a:avLst/>
          </a:prstGeom>
          <a:solidFill>
            <a:srgbClr val="CCFBF1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155448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2: BUILD &amp; SIMULATE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98848" y="1965960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62856" y="19659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Drag &amp; Drop Gates (H, X, Y, Z, CX, M)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98848" y="2368296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2856" y="236829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Configure Multi-Qubit Register (q0, q1)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98848" y="2770632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62856" y="27706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Dispatch Circuit Payload to FastAPI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98848" y="3172968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62856" y="31729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Pydantic Validates Qubits &amp; Gate Limits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98848" y="3575304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2856" y="357530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Qiskit Aer Executes 1,024 Shots Locally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98848" y="3977640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62856" y="39776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Stream Counts &amp; Statevector to UI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19872" y="155448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19872" y="1554480"/>
            <a:ext cx="3520440" cy="329184"/>
          </a:xfrm>
          <a:prstGeom prst="rect">
            <a:avLst/>
          </a:prstGeom>
          <a:solidFill>
            <a:srgbClr val="D1FAE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02752" y="155448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3: AI TUTOR &amp; UNLOCK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84464" y="1965960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48472" y="19659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Benchmark Prediction vs Theory vs Aer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284464" y="2368296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48472" y="236829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Context-Aware AI Tutor Explains Variance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284464" y="2770632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48472" y="27706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Socratic Dialogue Resolves Doubts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284464" y="3172968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48472" y="31729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Complete Assessment Quiz &amp; Challenge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84464" y="3575304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48472" y="357530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Automated State Fidelity Scoring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284464" y="3977640"/>
            <a:ext cx="31912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48472" y="39776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Earn XP &amp; Unlock Next Lesson Module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5120640"/>
            <a:ext cx="11094415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5120640"/>
            <a:ext cx="11094415" cy="274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1206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ARCHITECTURAL FOUNDATION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31520" y="5486400"/>
            <a:ext cx="2578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" y="5522976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22960" y="57241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•  TypeScript  •  Vite  •  Tailwind CSS  •  Lucide React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447288" y="5486400"/>
            <a:ext cx="2578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38728" y="5522976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538728" y="57241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Python 3.12+  •  SQLAlchemy 2.0  •  Pydantic v2  •  JWT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63056" y="5486400"/>
            <a:ext cx="2578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54496" y="5522976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254496" y="57241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Qiskit 2.5+  •  Qiskit Aer 0.17+  •  Statevector &amp; 1024 Shots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878824" y="5486400"/>
            <a:ext cx="2578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70264" y="5522976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RAG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970264" y="57241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1.5 Flash  •  TF-IDF Cosine Similarity  •  Socratic Prompting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 AI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31375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1375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TITANS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256032"/>
            <a:ext cx="6888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603504"/>
            <a:ext cx="688817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Feasibility, Market Viability, Risks &amp; Mitigations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46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@QuantumLearn AI — Team Quantum Titans  |  Learn. Build. Run. Understand.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70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051560"/>
            <a:ext cx="5394960" cy="2487168"/>
          </a:xfrm>
          <a:prstGeom prst="roundRect">
            <a:avLst>
              <a:gd name="adj" fmla="val 2941"/>
            </a:avLst>
          </a:prstGeom>
          <a:solidFill>
            <a:srgbClr val="F0FDFA"/>
          </a:solidFill>
          <a:ln w="15240">
            <a:solidFill>
              <a:srgbClr val="99F6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051560"/>
            <a:ext cx="5394960" cy="320040"/>
          </a:xfrm>
          <a:prstGeom prst="rect">
            <a:avLst/>
          </a:prstGeom>
          <a:solidFill>
            <a:srgbClr val="CCFBF1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417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Technical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stack (React 19, FastAPI, Qiskit Aer). Local simulator executes 1,024 shots in &lt;15ms with zero cloud latency.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18013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Standards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with OpenQASM 2.0/3.0 circuit formats and Dirac bra-ket quantum formalisms.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1854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Pedagogical Innovation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beginner platform pairing Predict-Before-Simulate active learning with grounded Socratic AI.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5694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Zero-install client; runs smoothly on standard low-spec student laptops in modern web browsers.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9535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Economic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foundation; eliminates expensive physical QPU cloud runtime fees for beginners.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8095" y="1051560"/>
            <a:ext cx="5394960" cy="2487168"/>
          </a:xfrm>
          <a:prstGeom prst="roundRect">
            <a:avLst>
              <a:gd name="adj" fmla="val 2941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8095" y="1051560"/>
            <a:ext cx="5394960" cy="320040"/>
          </a:xfrm>
          <a:prstGeom prst="rect">
            <a:avLst/>
          </a:prstGeom>
          <a:solidFill>
            <a:srgbClr val="D1FAE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0975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30975" y="1417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Need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Surging demand in quantum computing; 85%+ of beginners drop out due to overwhelming abstract math.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30975" y="1874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Curricular Alignment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aligns with university STEM curricula, national quantum literacy goals, and Qiskit certifications.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30975" y="23317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Scalability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FastAPI REST architecture and lightweight RAG allow effortless horizontal scaling to thousands of students.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30975" y="27889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Retention &amp; Engagement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gamification (XP, streaks, credentials, 9-domain mastery) yields 4x higher course completion.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703320"/>
            <a:ext cx="5394960" cy="2487168"/>
          </a:xfrm>
          <a:prstGeom prst="roundRect">
            <a:avLst>
              <a:gd name="adj" fmla="val 2941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703320"/>
            <a:ext cx="5394960" cy="320040"/>
          </a:xfrm>
          <a:prstGeom prst="rect">
            <a:avLst/>
          </a:prstGeom>
          <a:solidFill>
            <a:srgbClr val="FFE4E6"/>
          </a:solidFill>
          <a:ln w="10160">
            <a:solidFill>
              <a:srgbClr val="FECD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" y="40690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1 — Simulation Overload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circuits or excessive qubit allocations could crash server processes.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54456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Mitigation 1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Pydantic schema validation: maximum 12 qubits, 100 gates, and isolated Qiskit process execution.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502005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2 — AI Hallucinations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often fabricate inaccurate quantum properties or erroneous gate math.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549554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Mitigation 2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Socratic prompts grounded in verified quantum textbook knowledge chunks via TF-IDF Cosine RAG.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48095" y="3703320"/>
            <a:ext cx="5394960" cy="2487168"/>
          </a:xfrm>
          <a:prstGeom prst="roundRect">
            <a:avLst>
              <a:gd name="adj" fmla="val 2941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8095" y="3703320"/>
            <a:ext cx="5394960" cy="320040"/>
          </a:xfrm>
          <a:prstGeom prst="rect">
            <a:avLst/>
          </a:prstGeom>
          <a:solidFill>
            <a:srgbClr val="FEF3C7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0975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/ USER CHALLENGES 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30975" y="40690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1 — Sampling Misconception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misinterpret finite-shot variance (508 vs 516 shots) as software bugs.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30975" y="454456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Mitigation 1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contextually analyzes sampling counts, explicitly teaching the Law of Large Numbers and Born rule.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30975" y="502005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2 — Rushing Prerequisites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skipping foundations to build complex circuits without understanding.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30975" y="549554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Mitigation 2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state fidelity assessments enforce sequential lesson unlocking to guarantee concept mastery.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 AI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31375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1375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TITANS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256032"/>
            <a:ext cx="6888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&amp; BENEFITS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603504"/>
            <a:ext cx="688817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Transformation, Comparative Advantage &amp; Operating Modes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46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@QuantumLearn AI — Team Quantum Titans  |  Learn. Build. Run. Understand.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70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051560"/>
            <a:ext cx="566928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051560"/>
            <a:ext cx="5669280" cy="32004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PEDAGOGICAL TRANSFORMATION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4173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Democratizing Quantum Education 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mathematical gatekeeping; enables high schoolers and undergraduates to experiment with quantum states without prior advanced linear algebra.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207568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Experiential Concept Retention 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Predict-before-simulate methodology transforms passive reading into active scientific inquiry, doubling long-term conceptual retention.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2734056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 Workforce Readiness 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authentic IBM Qiskit circuits, statevector formalisms, and measurement histograms builds real-world quantum programming proficiency.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1051560"/>
            <a:ext cx="5242255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51560"/>
          <a:ext cx="5242255" cy="2834640"/>
        </p:xfrm>
        <a:graphic>
          <a:graphicData uri="http://schemas.openxmlformats.org/drawingml/2006/table">
            <a:tbl>
              <a:tblPr/>
              <a:tblGrid>
                <a:gridCol w="2286000"/>
                <a:gridCol w="777240"/>
                <a:gridCol w="868680"/>
                <a:gridCol w="1310335"/>
              </a:tblGrid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/ 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Textbooks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CLIs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QuantumLearn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Zero-Install Interactive Web 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Predict-Before-Simulate Feedback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Drag-and-Drop Circuits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Qiskit Aer Local Simulation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Socratic AI Tutor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Contextual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Unlock &amp; Mastery Scoring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9 Domains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4023360"/>
            <a:ext cx="11094415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02336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QUANTUMLEARN AI LEARNING MODES WORK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370832"/>
            <a:ext cx="3575304" cy="1874520"/>
          </a:xfrm>
          <a:prstGeom prst="roundRect">
            <a:avLst>
              <a:gd name="adj" fmla="val 3902"/>
            </a:avLst>
          </a:prstGeom>
          <a:solidFill>
            <a:srgbClr val="F0FDFA"/>
          </a:solidFill>
          <a:ln w="15240">
            <a:solidFill>
              <a:srgbClr val="99F6E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4370832"/>
            <a:ext cx="3575304" cy="320040"/>
          </a:xfrm>
          <a:prstGeom prst="rect">
            <a:avLst/>
          </a:prstGeom>
          <a:solidFill>
            <a:srgbClr val="CCFBF1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4370832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1: GUIDED CURRICULUM (Structured Novice Path)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8368" y="471830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: Beginners studying 4 core modules (Qubit, H, M, Bell)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658368" y="4983480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: Concept → Prediction → Circuit Build → Simulation → Unlock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658368" y="5248656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 : 10–15 minutes per lesson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658368" y="551383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Rate : 95%+ completion on guided tracks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658368" y="5779008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: Building fundamental quantum mechanics mental models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4306824" y="4370832"/>
            <a:ext cx="3575304" cy="1874520"/>
          </a:xfrm>
          <a:prstGeom prst="roundRect">
            <a:avLst>
              <a:gd name="adj" fmla="val 3902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06824" y="4370832"/>
            <a:ext cx="3575304" cy="320040"/>
          </a:xfrm>
          <a:prstGeom prst="rect">
            <a:avLst/>
          </a:prstGeom>
          <a:solidFill>
            <a:srgbClr val="FEF3C7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98264" y="4370832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2: QUANTUM PLAYGROUND (Open Experimentation)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416552" y="471830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: Enthusiasts experimenting freely with custom multi-qubit gates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4416552" y="4983480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: Dynamic register allocation → Gate composition → Instant Aer run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4416552" y="5248656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 : Self-paced freeform experimentation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4416552" y="551383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Flexibility : 100% Unconstrained custom circuit execution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4416552" y="5779008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: Hypothesis testing and custom gate synthesis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8065008" y="4370832"/>
            <a:ext cx="3575304" cy="1874520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065008" y="4370832"/>
            <a:ext cx="3575304" cy="320040"/>
          </a:xfrm>
          <a:prstGeom prst="rect">
            <a:avLst/>
          </a:prstGeom>
          <a:solidFill>
            <a:srgbClr val="D1FAE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56448" y="4370832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3: AI TUTOR &amp; CHALLENGES (Skills Assessment)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174736" y="471830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: Students validating mastery through target circuit challenges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8174736" y="4983480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: Prompt → Build state → Automated fidelity check → Socratic feedback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8174736" y="5248656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 : 5–10 minutes per challenge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8174736" y="551383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Scoring : Automated State Fidelity &amp; Parity Checks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8174736" y="5779008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: Knowledge retention, exams, and Qiskit skill certification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QuantumLearn AI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31375" y="292608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31375" y="2926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TITANS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256032"/>
            <a:ext cx="6888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603504"/>
            <a:ext cx="688817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Foundations, Competitive Standing &amp; Platform Resources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896112"/>
            <a:ext cx="11094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446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@QuantumLearn AI — Team Quantum Titans  |  Learn. Build. Run. Understand.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70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051560"/>
            <a:ext cx="11094415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051560"/>
            <a:ext cx="11094415" cy="29260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051560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SCIENTIFIC REFERENCES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389888"/>
            <a:ext cx="107286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Nielsen &amp; Chuang (Cambridge University Press)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“Quantum Computation and Quantum Information” — Primary reference for unitary matrices, statevectors, and Bell state entanglement.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1755648"/>
            <a:ext cx="107286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IBM Qiskit Aer &amp; OpenQASM 3.0 Documentation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standard for circuit compilation, unitary matrices, statevector simulation, and Monte Carlo shot noise modeling.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121408"/>
            <a:ext cx="107286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Learning in STEM (Deslauriers et al., PNAS / Science) : </a:t>
            </a:r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that predict-before-observe active learning produces 2x greater conceptual retention over traditional lecture pedagogy.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670048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670048"/>
            <a:ext cx="5029200" cy="292608"/>
          </a:xfrm>
          <a:prstGeom prst="rect">
            <a:avLst/>
          </a:prstGeom>
          <a:solidFill>
            <a:srgbClr val="FFE4E6"/>
          </a:solidFill>
          <a:ln w="1016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6700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29992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mathematical formalism without physical/visual intuition.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2644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2D textbook figures failing to show wave-function collapse.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35295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Steep Python CLI and virtualenv setups alienating non-CS students.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37947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Passive video lectures with no predict-and-verify feedback loop.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15000" y="3246120"/>
            <a:ext cx="731520" cy="384048"/>
          </a:xfrm>
          <a:prstGeom prst="rightArrow">
            <a:avLst/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6613855" y="2670048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3855" y="2670048"/>
            <a:ext cx="5029200" cy="292608"/>
          </a:xfrm>
          <a:prstGeom prst="rect">
            <a:avLst/>
          </a:prstGeom>
          <a:solidFill>
            <a:srgbClr val="D1FAE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6735" y="26700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STANDS OUT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96735" y="29992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Web Canvas : Drag-and-drop circuit assembly in browser.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96735" y="32644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Predict Loop : Form hypothesis before simulation runs.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96735" y="35295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Qiskit Aer Execution : 1,024 shots local Monte Carlo simulation.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96735" y="37947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Socratic Grounded AI Tutor : Context-aware quantum explanation.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5029200" cy="1901952"/>
          </a:xfrm>
          <a:prstGeom prst="roundRect">
            <a:avLst>
              <a:gd name="adj" fmla="val 384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343400"/>
            <a:ext cx="5029200" cy="292608"/>
          </a:xfrm>
          <a:prstGeom prst="rect">
            <a:avLst/>
          </a:prstGeom>
          <a:solidFill>
            <a:srgbClr val="CCFBF1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3434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 &amp; METRICS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1520" y="46817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Repository 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c:/Users/user/Documents/quantumlearn-ai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1520" y="49560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Web UI 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8 + Tailwind CSS (Natural Tones)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1520" y="52303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API Service 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Python 3.12+ (Swagger UI at /docs)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1520" y="55046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Simulator 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Qiskit Aer 0.17+ Local Monte Carlo Engine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1520" y="57790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Team 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TITANS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60720" y="4343400"/>
            <a:ext cx="5882335" cy="1901952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4343400"/>
            <a:ext cx="5882335" cy="29260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4343400"/>
            <a:ext cx="55165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STATE ENTANGLEMENT VERIFICATION (|Φ+⟩)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43600" y="4709160"/>
            <a:ext cx="5516575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4727448"/>
            <a:ext cx="5333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q0 ── [ H ] ── ● ── [ M ] ── 0 ═  |  Theory: |00⟩=50%, |11⟩=50%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─────────── ⊕ ── [ M ] ── 1 ═  |  Aer (1024): 50.4% / 49.6%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5943600" y="5413248"/>
            <a:ext cx="5516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Statevector:  </a:t>
            </a:r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|Φ+⟩ = (|00⟩ + |11⟩) / √2
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Socratic Feedback:  </a:t>
            </a:r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“Hadamard puts q0 in superposition; CNOT flips q1 iff q0=1, creating maximal entanglement!”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2026-09-03T07:21:35Z</dcterms:created>
  <dcterms:modified xsi:type="dcterms:W3CDTF">2026-09-03T07:21:35Z</dcterms:modified>
</cp:coreProperties>
</file>